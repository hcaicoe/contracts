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4630400" cy="8229600"/>
  <p:notesSz cx="8229600" cy="14630400"/>
  <p:embeddedFontLst>
    <p:embeddedFont>
      <p:font typeface="Playfair Display"/>
      <p:regular r:id="rId22"/>
    </p:embeddedFont>
    <p:embeddedFont>
      <p:font typeface="Playfair Display"/>
      <p:regular r:id="rId23"/>
    </p:embeddedFont>
    <p:embeddedFont>
      <p:font typeface="Playfair Display"/>
      <p:regular r:id="rId24"/>
    </p:embeddedFont>
    <p:embeddedFont>
      <p:font typeface="Playfair Display"/>
      <p:regular r:id="rId25"/>
    </p:embeddedFont>
    <p:embeddedFont>
      <p:font typeface="Open Sans"/>
      <p:regular r:id="rId26"/>
    </p:embeddedFont>
    <p:embeddedFont>
      <p:font typeface="Open Sans"/>
      <p:regular r:id="rId27"/>
    </p:embeddedFont>
    <p:embeddedFont>
      <p:font typeface="Open Sans"/>
      <p:regular r:id="rId28"/>
    </p:embeddedFont>
    <p:embeddedFont>
      <p:font typeface="Open Sans"/>
      <p:regular r:id="rId2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Relationship Id="rId28" Type="http://schemas.openxmlformats.org/officeDocument/2006/relationships/font" Target="fonts/font7.fntdata"/><Relationship Id="rId2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slideLayout" Target="../slideLayouts/slideLayout12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9710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ContractGuard AI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414838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Transforming Contract Review with Production-Grade Agentic Intelligence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9407"/>
            <a:ext cx="738747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"Word-by-Word" Bottleneck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065734"/>
            <a:ext cx="763202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today's fast-paced business environment, executives and legal teams are trapped in an exhausting cycle of manual contract review. Every agreement demands meticulous, line-by-line scrutiny that consumes countless hours of valuable time.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514487"/>
            <a:ext cx="763202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stakes couldn't be higher. A single overlooked clause, an ambiguous term, or a missed liability can trigger catastrophic financial consequences—lawsuits, regulatory penalties, and damaged partnerships that cost millions.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645700"/>
            <a:ext cx="763202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antiquated process is fundamentally broken. Human fatigue introduces errors. Manual workflows don't scale with business growth. Legal teams become bottlenecks rather than enablers. Organizations desperately need a transformative solution.</a:t>
            </a:r>
            <a:endParaRPr lang="en-US" sz="1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7543" y="2110383"/>
            <a:ext cx="4926568" cy="49265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32942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ContractGuard AI: Intelligent, Automated, Secure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369112"/>
            <a:ext cx="216920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Beyond Reading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3790" y="3877628"/>
            <a:ext cx="2169200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platform doesn't just scan text—it comprehends context, identifies risks, and provides actionable insights with human-level understanding.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3454718" y="3369112"/>
            <a:ext cx="216920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Production-Ready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3454718" y="3877628"/>
            <a:ext cx="2169200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with enterprise-grade security and scalability from day one, ready to handle your most critical contracts immediately.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115645" y="3369112"/>
            <a:ext cx="224956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AI That Reasons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6115645" y="3877628"/>
            <a:ext cx="2249567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large language models combined with specialized legal tools create an intelligent agent that thinks, analyzes, and protects your interests.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2631"/>
            <a:ext cx="723471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Product </a:t>
            </a:r>
            <a:pPr algn="l" indent="0" marL="0">
              <a:lnSpc>
                <a:spcPts val="4850"/>
              </a:lnSpc>
              <a:buNone/>
            </a:pPr>
            <a:r>
              <a:rPr lang="en-US" sz="3900" b="1" i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Is</a:t>
            </a:r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the Presentation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019544"/>
            <a:ext cx="4215289" cy="3207306"/>
          </a:xfrm>
          <a:prstGeom prst="roundRect">
            <a:avLst>
              <a:gd name="adj" fmla="val 928"/>
            </a:avLst>
          </a:prstGeom>
          <a:solidFill>
            <a:srgbClr val="E0E0EC"/>
          </a:solidFill>
          <a:ln/>
        </p:spPr>
      </p:sp>
      <p:sp>
        <p:nvSpPr>
          <p:cNvPr id="4" name="Shape 2"/>
          <p:cNvSpPr/>
          <p:nvPr/>
        </p:nvSpPr>
        <p:spPr>
          <a:xfrm>
            <a:off x="992148" y="3217902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0101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9" y="3381494"/>
            <a:ext cx="267891" cy="2678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2148" y="4011573"/>
            <a:ext cx="255377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Hackathon Innovation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2148" y="4440793"/>
            <a:ext cx="381857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rejected the traditional pitch deck approach. Instead, we built a fully functional, self-demonstrating user interface that proves our concept through live interaction.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207437" y="3019544"/>
            <a:ext cx="4215408" cy="3207306"/>
          </a:xfrm>
          <a:prstGeom prst="roundRect">
            <a:avLst>
              <a:gd name="adj" fmla="val 928"/>
            </a:avLst>
          </a:prstGeom>
          <a:solidFill>
            <a:srgbClr val="E0E0EC"/>
          </a:solidFill>
          <a:ln/>
        </p:spPr>
      </p:sp>
      <p:sp>
        <p:nvSpPr>
          <p:cNvPr id="9" name="Shape 6"/>
          <p:cNvSpPr/>
          <p:nvPr/>
        </p:nvSpPr>
        <p:spPr>
          <a:xfrm>
            <a:off x="5405795" y="3217902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0101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9506" y="3381494"/>
            <a:ext cx="267891" cy="2678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05795" y="40115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Show, Don't Tell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5405795" y="4440793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jury can experience our agentic workflow firsthand, watching real-time contract analysis unfold with complete transparency and explainability.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9621203" y="3019544"/>
            <a:ext cx="4215289" cy="3207306"/>
          </a:xfrm>
          <a:prstGeom prst="roundRect">
            <a:avLst>
              <a:gd name="adj" fmla="val 928"/>
            </a:avLst>
          </a:prstGeom>
          <a:solidFill>
            <a:srgbClr val="E0E0EC"/>
          </a:solidFill>
          <a:ln/>
        </p:spPr>
      </p:sp>
      <p:sp>
        <p:nvSpPr>
          <p:cNvPr id="14" name="Shape 10"/>
          <p:cNvSpPr/>
          <p:nvPr/>
        </p:nvSpPr>
        <p:spPr>
          <a:xfrm>
            <a:off x="9819561" y="3217902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0101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83272" y="3381494"/>
            <a:ext cx="267891" cy="2678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19561" y="40115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Intuitive by Design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819561" y="4440793"/>
            <a:ext cx="381857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interface needs no manual or training. Its intuitive design demonstrates that enterprise AI can be both powerful and accessible to every user.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0677"/>
            <a:ext cx="472797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True Agentic Architecture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210270"/>
            <a:ext cx="2235160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Beyond Simple Chatbots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1696403"/>
            <a:ext cx="130428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ContractGuard AI represents a fundamental leap forward in artificial intelligence application. Unlike basic question-answer systems, our platform employs a sophisticated agentic framework that mirrors human cognitive processes.</a:t>
            </a:r>
            <a:endParaRPr lang="en-US" sz="1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83155"/>
            <a:ext cx="793790" cy="9526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46290" y="254186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Input Analysis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746290" y="2885123"/>
            <a:ext cx="120903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Receives and interprets complex contract documents and user queries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335774"/>
            <a:ext cx="793790" cy="9526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46290" y="349448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Reasoning Engine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746290" y="3837742"/>
            <a:ext cx="120903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Evaluates context, identifies risks, and formulates strategic approach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288393"/>
            <a:ext cx="793790" cy="9526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46290" y="444710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Tool Selection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1746290" y="4790361"/>
            <a:ext cx="120903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Chooses appropriate analytical instruments from specialized toolkit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241012"/>
            <a:ext cx="793790" cy="95261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746290" y="539972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Execution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1746290" y="5742980"/>
            <a:ext cx="120903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Performs deep analysis using selected tools and methods</a:t>
            </a:r>
            <a:endParaRPr lang="en-US" sz="12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6193631"/>
            <a:ext cx="793790" cy="95261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746290" y="635234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Refined Output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1746290" y="6695599"/>
            <a:ext cx="120903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Delivers comprehensive, actionable insights with full explanation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793790" y="7324844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autonomous decision-making capability enables ContractGuard AI to tackle unprecedented complexity with remarkable accuracy and speed.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9358" y="398264"/>
            <a:ext cx="3482935" cy="36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Seeing the "Brain" at Work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9358" y="1049893"/>
            <a:ext cx="1738074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Explainable AI (XAI)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79358" y="1383030"/>
            <a:ext cx="5906691" cy="37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Transparency builds trust. That's why ContractGuard AI provides unprecedented visibility into its decision-making process. Our revolutionary XAI interface reveals every step of the agent's cognitive journey.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79358" y="1857732"/>
            <a:ext cx="5906691" cy="37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Users witness the complete analytical workflow: initial thinking, logical reasoning, tool activation, and LLM processing. This transparency isn't just impressive—it's essential for enterprise adoption.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9358" y="2332434"/>
            <a:ext cx="5906691" cy="37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Legal teams can validate the AI's conclusions, audit its methodology, and confidently present findings to stakeholders knowing exactly how every insight was derived.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6323" y="1064300"/>
            <a:ext cx="5825728" cy="58257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9358" y="7150537"/>
            <a:ext cx="115848" cy="144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9358" y="7332107"/>
            <a:ext cx="6677858" cy="1524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0" name="Text 7"/>
          <p:cNvSpPr/>
          <p:nvPr/>
        </p:nvSpPr>
        <p:spPr>
          <a:xfrm>
            <a:off x="579358" y="7420451"/>
            <a:ext cx="1448395" cy="181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Thinking Phase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9358" y="7670959"/>
            <a:ext cx="6677858" cy="185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 assesses the query and contract context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73064" y="7150537"/>
            <a:ext cx="115848" cy="144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73064" y="7332107"/>
            <a:ext cx="6677978" cy="1524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4" name="Text 11"/>
          <p:cNvSpPr/>
          <p:nvPr/>
        </p:nvSpPr>
        <p:spPr>
          <a:xfrm>
            <a:off x="7373064" y="7420451"/>
            <a:ext cx="1448395" cy="181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Reasoning Process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73064" y="7670959"/>
            <a:ext cx="6677978" cy="185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Logic chains form to identify relevant clauses and risks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79358" y="8058864"/>
            <a:ext cx="115848" cy="144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79358" y="8240435"/>
            <a:ext cx="6677858" cy="1524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8" name="Text 15"/>
          <p:cNvSpPr/>
          <p:nvPr/>
        </p:nvSpPr>
        <p:spPr>
          <a:xfrm>
            <a:off x="579358" y="8328779"/>
            <a:ext cx="1448395" cy="181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Action Execution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79358" y="8579287"/>
            <a:ext cx="6677858" cy="185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Specialized tools perform targeted analysis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373064" y="8058864"/>
            <a:ext cx="115848" cy="144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373064" y="8240435"/>
            <a:ext cx="6677978" cy="1524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22" name="Text 19"/>
          <p:cNvSpPr/>
          <p:nvPr/>
        </p:nvSpPr>
        <p:spPr>
          <a:xfrm>
            <a:off x="7373064" y="8328779"/>
            <a:ext cx="1448395" cy="181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LLM Synthesis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373064" y="8579287"/>
            <a:ext cx="6677978" cy="185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Language model generates clear, actionable insights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62551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Seamless Conversational Interface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2900363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ContractGuard AI delivers a conversational user interface (CUI) that feels remarkably natural—like consulting with your most knowledgeable legal advisor. The system maintains context across complex, multi-turn conversations, understanding nuanced follow-up questions without requiring repetition.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80190" y="459212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Real-Time Streaming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280190" y="5100638"/>
            <a:ext cx="35361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Watch responses materialize word-by-word, providing immediate feedback and creating an engaging, human-like interaction pattern. No more waiting for processing to complete.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308074" y="4592122"/>
            <a:ext cx="265640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Contextual Intelligence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308074" y="5100638"/>
            <a:ext cx="35361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AI remembers previous questions, understands references to earlier discussion points, and builds comprehensive understanding throughout your session.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1003"/>
            <a:ext cx="624137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Production-Grade Security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060377"/>
            <a:ext cx="387465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Built for Enterprise from Day One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66819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isn't a feature we added later—it's the foundation of ContractGuard AI's architecture. We've implemented comprehensive security measures that meet the stringent requirements of Fortune 500 legal departments and regulated industries.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3824168"/>
            <a:ext cx="4215289" cy="3044428"/>
          </a:xfrm>
          <a:prstGeom prst="roundRect">
            <a:avLst>
              <a:gd name="adj" fmla="val 3604"/>
            </a:avLst>
          </a:prstGeom>
          <a:solidFill>
            <a:srgbClr val="F3F3F7"/>
          </a:solidFill>
          <a:ln/>
        </p:spPr>
      </p:sp>
      <p:sp>
        <p:nvSpPr>
          <p:cNvPr id="6" name="Shape 4"/>
          <p:cNvSpPr/>
          <p:nvPr/>
        </p:nvSpPr>
        <p:spPr>
          <a:xfrm>
            <a:off x="793790" y="3801308"/>
            <a:ext cx="4215289" cy="91440"/>
          </a:xfrm>
          <a:prstGeom prst="roundRect">
            <a:avLst>
              <a:gd name="adj" fmla="val 32558"/>
            </a:avLst>
          </a:prstGeom>
          <a:solidFill>
            <a:srgbClr val="101014"/>
          </a:solidFill>
          <a:ln/>
        </p:spPr>
      </p:sp>
      <p:sp>
        <p:nvSpPr>
          <p:cNvPr id="7" name="Shape 5"/>
          <p:cNvSpPr/>
          <p:nvPr/>
        </p:nvSpPr>
        <p:spPr>
          <a:xfrm>
            <a:off x="2603778" y="3526512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0101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2372" y="3705106"/>
            <a:ext cx="238125" cy="238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15008" y="4320302"/>
            <a:ext cx="377285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Role-Based Access Control (RBAC)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015008" y="5059680"/>
            <a:ext cx="377285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Granular permissions ensure complete data isolation between departments, projects, and user groups. Every document, query, and result respects organizational boundaries.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207437" y="3824168"/>
            <a:ext cx="4215408" cy="3044428"/>
          </a:xfrm>
          <a:prstGeom prst="roundRect">
            <a:avLst>
              <a:gd name="adj" fmla="val 3604"/>
            </a:avLst>
          </a:prstGeom>
          <a:solidFill>
            <a:srgbClr val="F3F3F7"/>
          </a:solidFill>
          <a:ln/>
        </p:spPr>
      </p:sp>
      <p:sp>
        <p:nvSpPr>
          <p:cNvPr id="12" name="Shape 9"/>
          <p:cNvSpPr/>
          <p:nvPr/>
        </p:nvSpPr>
        <p:spPr>
          <a:xfrm>
            <a:off x="5207437" y="3801308"/>
            <a:ext cx="4215408" cy="91440"/>
          </a:xfrm>
          <a:prstGeom prst="roundRect">
            <a:avLst>
              <a:gd name="adj" fmla="val 32558"/>
            </a:avLst>
          </a:prstGeom>
          <a:solidFill>
            <a:srgbClr val="101014"/>
          </a:solidFill>
          <a:ln/>
        </p:spPr>
      </p:sp>
      <p:sp>
        <p:nvSpPr>
          <p:cNvPr id="13" name="Shape 10"/>
          <p:cNvSpPr/>
          <p:nvPr/>
        </p:nvSpPr>
        <p:spPr>
          <a:xfrm>
            <a:off x="7017425" y="3526512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0101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6018" y="3705106"/>
            <a:ext cx="238125" cy="238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28655" y="4320302"/>
            <a:ext cx="282713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Comprehensive Auditing</a:t>
            </a:r>
            <a:endParaRPr lang="en-US" sz="1950" dirty="0"/>
          </a:p>
        </p:txBody>
      </p:sp>
      <p:sp>
        <p:nvSpPr>
          <p:cNvPr id="16" name="Text 12"/>
          <p:cNvSpPr/>
          <p:nvPr/>
        </p:nvSpPr>
        <p:spPr>
          <a:xfrm>
            <a:off x="5428655" y="4749522"/>
            <a:ext cx="3772972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agent action is logged with timestamp, user identity, and reasoning chain. Full audit trails enable compliance verification and forensic investigation when needed.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9621203" y="3824168"/>
            <a:ext cx="4215289" cy="3044428"/>
          </a:xfrm>
          <a:prstGeom prst="roundRect">
            <a:avLst>
              <a:gd name="adj" fmla="val 3604"/>
            </a:avLst>
          </a:prstGeom>
          <a:solidFill>
            <a:srgbClr val="F3F3F7"/>
          </a:solidFill>
          <a:ln/>
        </p:spPr>
      </p:sp>
      <p:sp>
        <p:nvSpPr>
          <p:cNvPr id="18" name="Shape 14"/>
          <p:cNvSpPr/>
          <p:nvPr/>
        </p:nvSpPr>
        <p:spPr>
          <a:xfrm>
            <a:off x="9621203" y="3801308"/>
            <a:ext cx="4215289" cy="91440"/>
          </a:xfrm>
          <a:prstGeom prst="roundRect">
            <a:avLst>
              <a:gd name="adj" fmla="val 32558"/>
            </a:avLst>
          </a:prstGeom>
          <a:solidFill>
            <a:srgbClr val="101014"/>
          </a:solidFill>
          <a:ln/>
        </p:spPr>
      </p:sp>
      <p:sp>
        <p:nvSpPr>
          <p:cNvPr id="19" name="Shape 15"/>
          <p:cNvSpPr/>
          <p:nvPr/>
        </p:nvSpPr>
        <p:spPr>
          <a:xfrm>
            <a:off x="11431191" y="3526512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0101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09784" y="3705106"/>
            <a:ext cx="238125" cy="2381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842421" y="4320302"/>
            <a:ext cx="377285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Industrial-Strength Authentication</a:t>
            </a:r>
            <a:endParaRPr lang="en-US" sz="1950" dirty="0"/>
          </a:p>
        </p:txBody>
      </p:sp>
      <p:sp>
        <p:nvSpPr>
          <p:cNvPr id="22" name="Text 17"/>
          <p:cNvSpPr/>
          <p:nvPr/>
        </p:nvSpPr>
        <p:spPr>
          <a:xfrm>
            <a:off x="9842421" y="5059680"/>
            <a:ext cx="377285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Multi-factor authentication, single sign-on integration, and session management protocols that align with enterprise identity systems and security policies.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46735"/>
            <a:ext cx="795849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Privacy &amp; Compliance: Safety First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687711"/>
            <a:ext cx="4926568" cy="49265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2086" y="1643063"/>
            <a:ext cx="763202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ContractGuard AI treats sensitive information with the highest level of protection. Our multi-layered privacy framework ensures that confidential data remains secure throughout the entire analytical process.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12086" y="2818924"/>
            <a:ext cx="7632025" cy="2221111"/>
          </a:xfrm>
          <a:prstGeom prst="roundRect">
            <a:avLst>
              <a:gd name="adj" fmla="val 1340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33304" y="3040142"/>
            <a:ext cx="261830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Automatic PII Masking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433304" y="3548658"/>
            <a:ext cx="718958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detection algorithms identify and redact personally identifiable information—names, dates, financial amounts, addresses—before any processing occurs. Your sensitive data never reaches the language model in its raw form.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212086" y="5238393"/>
            <a:ext cx="7632025" cy="2221111"/>
          </a:xfrm>
          <a:prstGeom prst="roundRect">
            <a:avLst>
              <a:gd name="adj" fmla="val 1340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33304" y="54596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Strict Guardrails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6433304" y="5968127"/>
            <a:ext cx="718958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Sophisticated validation layers prevent AI hallucinations and ensure responses remain grounded in actual contract content. Output boundaries enforce legal compliance and prevent unauthorized disclosure of protected information.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46986"/>
            <a:ext cx="561725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Proactive Risk Detection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1346359"/>
            <a:ext cx="593740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Identifying Flawed Contracts Automatically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6280190" y="2016085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ContractGuard AI doesn't wait for you to ask the right questions—it proactively hunts for problems. The moment you upload a document, sophisticated analysis engines spring into action, scanning for vulnerabilities that human reviewers often miss.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280190" y="3509486"/>
            <a:ext cx="3679031" cy="2413635"/>
          </a:xfrm>
          <a:prstGeom prst="roundRect">
            <a:avLst>
              <a:gd name="adj" fmla="val 1233"/>
            </a:avLst>
          </a:prstGeom>
          <a:solidFill>
            <a:srgbClr val="101014"/>
          </a:solidFill>
          <a:ln/>
        </p:spPr>
      </p:sp>
      <p:sp>
        <p:nvSpPr>
          <p:cNvPr id="7" name="Text 4"/>
          <p:cNvSpPr/>
          <p:nvPr/>
        </p:nvSpPr>
        <p:spPr>
          <a:xfrm>
            <a:off x="6478548" y="370784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Missing Clauses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6478548" y="4137065"/>
            <a:ext cx="328231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Identifies absent but essential provisions like indemnification, termination rights, or dispute resolution mechanisms that could leave you exposed.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0157579" y="3509486"/>
            <a:ext cx="3679031" cy="2413635"/>
          </a:xfrm>
          <a:prstGeom prst="roundRect">
            <a:avLst>
              <a:gd name="adj" fmla="val 1233"/>
            </a:avLst>
          </a:prstGeom>
          <a:solidFill>
            <a:srgbClr val="101014"/>
          </a:solidFill>
          <a:ln/>
        </p:spPr>
      </p:sp>
      <p:sp>
        <p:nvSpPr>
          <p:cNvPr id="10" name="Text 7"/>
          <p:cNvSpPr/>
          <p:nvPr/>
        </p:nvSpPr>
        <p:spPr>
          <a:xfrm>
            <a:off x="10355937" y="370784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Ambiguous Terms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0355937" y="4137065"/>
            <a:ext cx="328231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Flags vague language, undefined terms, and unclear obligations that create dangerous interpretation gaps and litigation risk.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280190" y="6121479"/>
            <a:ext cx="7556421" cy="1461016"/>
          </a:xfrm>
          <a:prstGeom prst="roundRect">
            <a:avLst>
              <a:gd name="adj" fmla="val 2038"/>
            </a:avLst>
          </a:prstGeom>
          <a:solidFill>
            <a:srgbClr val="101014"/>
          </a:solidFill>
          <a:ln/>
        </p:spPr>
      </p:sp>
      <p:sp>
        <p:nvSpPr>
          <p:cNvPr id="13" name="Text 10"/>
          <p:cNvSpPr/>
          <p:nvPr/>
        </p:nvSpPr>
        <p:spPr>
          <a:xfrm>
            <a:off x="6478548" y="631983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High-Risk Liabilities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6478548" y="6749058"/>
            <a:ext cx="715970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Surfaces unfavorable liability caps, one-sided obligations, and dangerous warranty provisions that could cost millions.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7552"/>
            <a:ext cx="1052607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Action-Oriented AI with Tool-Use Capabilities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38446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ContractGuard AI doesn't just generate text—it solves problems through intelligent tool utilization. Our agents access a sophisticated toolkit of specialized instruments, each designed for specific legal and analytical tasks.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242786"/>
            <a:ext cx="496133" cy="4961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7930" y="3360539"/>
            <a:ext cx="258770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Legal Cross-Reference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537930" y="3789759"/>
            <a:ext cx="5653207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Automatically compares contract provisions against relevant statutes, regulations, and case law to ensure legal compliance.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9144" y="3242786"/>
            <a:ext cx="496133" cy="4961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83285" y="33605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Financial Analysis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8183285" y="3789759"/>
            <a:ext cx="565332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Calculates penalties, payment schedules, termination costs, and financial exposure with precision.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139214"/>
            <a:ext cx="496133" cy="4961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37930" y="52569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Clause Comparison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1537930" y="5686187"/>
            <a:ext cx="565320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Identifies discrepancies between multiple contract versions or compares terms against your standard templates.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9144" y="5139214"/>
            <a:ext cx="496133" cy="4961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83285" y="52569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Obligation Tracking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8183285" y="5686187"/>
            <a:ext cx="565332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Extracts deadlines, milestones, and deliverables to create comprehensive obligation timelines.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793790" y="654450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tool-first architecture means ContractGuard AI takes action and delivers results, not just conversational responses.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1150"/>
            <a:ext cx="617446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"Contract Tutor" Agent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747242"/>
            <a:ext cx="317980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Mastering Legal Jargon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2317671"/>
            <a:ext cx="695563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Legal language shouldn't be a barrier to understanding your own contracts. ContractGuard AI includes a dedicated "User Guide" agent that functions as your personal AI tutor, transforming impenetrable legalese into crystal-clear explanations.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766423"/>
            <a:ext cx="695563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specialized agent breaks down complex terminology, explains the practical implications of specific clauses, and provides real-world examples that make abstract legal concepts concrete and actionable.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897636"/>
            <a:ext cx="695563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Non-legal professionals gain confidence to review contracts independently, ask informed questions, and participate meaningfully in negotiations—democratizing legal knowledge across your entire organization.</a:t>
            </a:r>
            <a:endParaRPr lang="en-US" sz="1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1149" y="1772126"/>
            <a:ext cx="5602962" cy="56029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7829"/>
            <a:ext cx="7845028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Adaptive Persona-Based Experience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93790" y="1392317"/>
            <a:ext cx="4677489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Right Information for the Right Person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93790" y="1969770"/>
            <a:ext cx="13042821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ContractGuard AI recognizes that different stakeholders need different insights from the same contract. Our intelligent persona system automatically adapts its analysis, language, and focus based on who's asking.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785229"/>
            <a:ext cx="2866311" cy="28663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5887164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Chief Executive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93790" y="6294953"/>
            <a:ext cx="4190524" cy="1206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High-level strategic summary focusing on financial risk, business impact, and critical decision points. Bottom-line oriented insights without unnecessary legal detail.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938" y="2785229"/>
            <a:ext cx="2866311" cy="28663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9938" y="5887164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Legal Counsel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5219938" y="6294953"/>
            <a:ext cx="4190524" cy="1206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 clause-by-clause analysis with statutory citations, precedent references, and technical legal reasoning. Comprehensive risk assessment with litigation considerations.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087" y="2785229"/>
            <a:ext cx="2866311" cy="28663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46087" y="5887164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Procurement Officer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9646087" y="6294953"/>
            <a:ext cx="4190524" cy="1206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Payment terms, delivery schedules, service level agreements, and vendor obligations. Operational focus on performance metrics and contract execution requirements.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6341"/>
            <a:ext cx="616398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Measurable Business Value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322433"/>
            <a:ext cx="41821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85%</a:t>
            </a:r>
            <a:endParaRPr lang="en-US" sz="5150" dirty="0"/>
          </a:p>
        </p:txBody>
      </p:sp>
      <p:sp>
        <p:nvSpPr>
          <p:cNvPr id="4" name="Text 2"/>
          <p:cNvSpPr/>
          <p:nvPr/>
        </p:nvSpPr>
        <p:spPr>
          <a:xfrm>
            <a:off x="1644372" y="32254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Time Reduction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3654623"/>
            <a:ext cx="41821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Contract review cycles compressed from days to minutes, accelerating deal velocity and time-to-revenue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223986" y="2322433"/>
            <a:ext cx="4182308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94%</a:t>
            </a:r>
            <a:endParaRPr lang="en-US" sz="5150" dirty="0"/>
          </a:p>
        </p:txBody>
      </p:sp>
      <p:sp>
        <p:nvSpPr>
          <p:cNvPr id="7" name="Text 5"/>
          <p:cNvSpPr/>
          <p:nvPr/>
        </p:nvSpPr>
        <p:spPr>
          <a:xfrm>
            <a:off x="6074688" y="32254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Error Prevention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223986" y="3654623"/>
            <a:ext cx="41823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Dramatic reduction in missed clauses and oversight errors that lead to costly disputes and renegotiations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54302" y="2322433"/>
            <a:ext cx="4182308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$2.3M</a:t>
            </a:r>
            <a:endParaRPr lang="en-US" sz="5150" dirty="0"/>
          </a:p>
        </p:txBody>
      </p:sp>
      <p:sp>
        <p:nvSpPr>
          <p:cNvPr id="10" name="Text 8"/>
          <p:cNvSpPr/>
          <p:nvPr/>
        </p:nvSpPr>
        <p:spPr>
          <a:xfrm>
            <a:off x="10505003" y="32254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Average Risk Avoided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654302" y="3654623"/>
            <a:ext cx="41823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 enterprise client annually through proactive identification of unfavorable terms and hidden liabilities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4929633"/>
            <a:ext cx="13042821" cy="32385"/>
          </a:xfrm>
          <a:prstGeom prst="rect">
            <a:avLst/>
          </a:prstGeom>
          <a:solidFill>
            <a:srgbClr val="39393C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383530"/>
            <a:ext cx="298525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Empowering Non-Experts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93790" y="5892046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stakeholders gain confidence to understand complex agreements without constant legal consultation, improving autonomy and decision-making speed.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64874" y="5383530"/>
            <a:ext cx="285738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Scaling Legal Operations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564874" y="5892046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Legal teams handle 10x contract volume without proportional headcount increase, focusing expertise on strategy rather than routine review.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87648"/>
            <a:ext cx="561784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Ready for the Real World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230374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Not Just a Concept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6280190" y="2874169"/>
            <a:ext cx="3536156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ContractGuard AI isn't vaporware or a proof-of-concept demo. It's a production-grade, enterprise-ready platform that handles the full complexity of modern business contracts today.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4958001"/>
            <a:ext cx="3536156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secure agentic architecture, explainable AI transparency, and comprehensive security framework make it ready for immediate deployment in the most demanding legal environments.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308074" y="2303740"/>
            <a:ext cx="353615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Future of Contract Intelligence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10308074" y="3246239"/>
            <a:ext cx="35361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We've built the solution that legal and business teams have been waiting for—AI that truly understands contracts, protects your interests, and scales with your business.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308074" y="5012531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Thank you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your time and consideration.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2025-12-06T08:37:05Z</dcterms:created>
  <dcterms:modified xsi:type="dcterms:W3CDTF">2025-12-06T08:37:05Z</dcterms:modified>
</cp:coreProperties>
</file>